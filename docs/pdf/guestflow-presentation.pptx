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B12"/>
          </a:solidFill>
          <a:ln>
            <a:solidFill>
              <a:srgbClr val="020B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7616952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GuestFlow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2743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BAAB8"/>
                </a:solidFill>
                <a:latin typeface="Calibri"/>
              </a:rPr>
              <a:t>by Amica International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228600"/>
            <a:ext cx="2560320" cy="347472"/>
          </a:xfrm>
          <a:prstGeom prst="roundRect">
            <a:avLst/>
          </a:prstGeom>
          <a:solidFill>
            <a:srgbClr val="083040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246888"/>
            <a:ext cx="25603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6B6D4"/>
                </a:solidFill>
                <a:latin typeface="Calibri"/>
              </a:rPr>
              <a:t>● LIVE PLATFORM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49020"/>
            <a:ext cx="274320" cy="254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960120"/>
            <a:ext cx="3657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HOTEL TECHNOLOGY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The 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6B6D4"/>
                </a:solidFill>
                <a:latin typeface="Georgia"/>
              </a:rPr>
              <a:t>Digital Guest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59E0B"/>
                </a:solidFill>
                <a:latin typeface="Georgia"/>
              </a:rPr>
              <a:t>Experience.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Online check-in · Digital concierge · Review automation · Marketing CRM
All in one platform, branded as your hotel.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14800"/>
            <a:ext cx="1417320" cy="274320"/>
          </a:xfrm>
          <a:prstGeom prst="roundRect">
            <a:avLst/>
          </a:prstGeom>
          <a:solidFill>
            <a:srgbClr val="102836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1417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8"/>
                </a:solidFill>
                <a:latin typeface="Calibri"/>
              </a:rPr>
              <a:t>📋 Check-in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7400" y="4114800"/>
            <a:ext cx="1417320" cy="274320"/>
          </a:xfrm>
          <a:prstGeom prst="roundRect">
            <a:avLst/>
          </a:prstGeom>
          <a:solidFill>
            <a:srgbClr val="102836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4114800"/>
            <a:ext cx="1417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8"/>
                </a:solidFill>
                <a:latin typeface="Calibri"/>
              </a:rPr>
              <a:t>🗺️ Concierge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4114800"/>
            <a:ext cx="1417320" cy="274320"/>
          </a:xfrm>
          <a:prstGeom prst="roundRect">
            <a:avLst/>
          </a:prstGeom>
          <a:solidFill>
            <a:srgbClr val="102836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114800"/>
            <a:ext cx="1417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8"/>
                </a:solidFill>
                <a:latin typeface="Calibri"/>
              </a:rPr>
              <a:t>⭐ Reviews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4114800"/>
            <a:ext cx="1417320" cy="274320"/>
          </a:xfrm>
          <a:prstGeom prst="roundRect">
            <a:avLst/>
          </a:prstGeom>
          <a:solidFill>
            <a:srgbClr val="102836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4114800"/>
            <a:ext cx="1417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8"/>
                </a:solidFill>
                <a:latin typeface="Calibri"/>
              </a:rPr>
              <a:t>📊 Marketing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14800"/>
            <a:ext cx="1417320" cy="274320"/>
          </a:xfrm>
          <a:prstGeom prst="roundRect">
            <a:avLst/>
          </a:prstGeom>
          <a:solidFill>
            <a:srgbClr val="102836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114800"/>
            <a:ext cx="1417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8"/>
                </a:solidFill>
                <a:latin typeface="Calibri"/>
              </a:rPr>
              <a:t>🔑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5074920"/>
            <a:ext cx="12188952" cy="914400"/>
          </a:xfrm>
          <a:prstGeom prst="rect">
            <a:avLst/>
          </a:prstGeom>
          <a:solidFill>
            <a:srgbClr val="051824"/>
          </a:solidFill>
          <a:ln>
            <a:solidFill>
              <a:srgbClr val="051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074920"/>
            <a:ext cx="12188952" cy="12700"/>
          </a:xfrm>
          <a:prstGeom prst="rect">
            <a:avLst/>
          </a:prstGeom>
          <a:solidFill>
            <a:srgbClr val="1A4A5E"/>
          </a:solidFill>
          <a:ln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B6D4"/>
                </a:solidFill>
                <a:latin typeface="Calibri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577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AAB8"/>
                </a:solidFill>
                <a:latin typeface="Calibri"/>
              </a:rPr>
              <a:t>Platform Modules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5212080"/>
            <a:ext cx="12700" cy="640080"/>
          </a:xfrm>
          <a:prstGeom prst="rect">
            <a:avLst/>
          </a:prstGeom>
          <a:solidFill>
            <a:srgbClr val="1A4A5E"/>
          </a:solidFill>
          <a:ln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Calibri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5577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AAB8"/>
                </a:solidFill>
                <a:latin typeface="Calibri"/>
              </a:rPr>
              <a:t>Paperless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5212080"/>
            <a:ext cx="12700" cy="640080"/>
          </a:xfrm>
          <a:prstGeom prst="rect">
            <a:avLst/>
          </a:prstGeom>
          <a:solidFill>
            <a:srgbClr val="1A4A5E"/>
          </a:solidFill>
          <a:ln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  <a:latin typeface="Calibri"/>
              </a:rPr>
              <a:t>3×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577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AAB8"/>
                </a:solidFill>
                <a:latin typeface="Calibri"/>
              </a:rPr>
              <a:t>More Reviews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5212080"/>
            <a:ext cx="12700" cy="640080"/>
          </a:xfrm>
          <a:prstGeom prst="rect">
            <a:avLst/>
          </a:prstGeom>
          <a:solidFill>
            <a:srgbClr val="1A4A5E"/>
          </a:solidFill>
          <a:ln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24h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5577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AAB8"/>
                </a:solidFill>
                <a:latin typeface="Calibri"/>
              </a:rPr>
              <a:t>Setup 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1672" y="6492240"/>
            <a:ext cx="1005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555555"/>
                </a:solidFill>
                <a:latin typeface="Calibri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3220"/>
            <a:ext cx="274320" cy="254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3657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891B2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Georgia"/>
              </a:rPr>
              <a:t>Hotels still run on paper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E7490"/>
                </a:solidFill>
                <a:latin typeface="Georgia"/>
              </a:rPr>
              <a:t>and hope for the best.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The hotel industry is one of the last sectors still relying on physical
registration cards, manual review chasing, and disconnected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651760"/>
            <a:ext cx="6309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2651760"/>
            <a:ext cx="50800" cy="8686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0" y="28529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743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Paper registration 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999232"/>
            <a:ext cx="5486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Stored in folders, illegible, impossible to search or export for GDPR compliance.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3611880"/>
            <a:ext cx="6309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3611880"/>
            <a:ext cx="50800" cy="8686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0" y="381304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703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No systematic review collection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959352"/>
            <a:ext cx="5486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Staff verbally asking guests to leave a review — conversion under 5%.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4572000"/>
            <a:ext cx="6309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4572000"/>
            <a:ext cx="50800" cy="8686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47731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🗺️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6634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Reception as the concierge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919472"/>
            <a:ext cx="5486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Staff fielding the same restaurant and parking questions 20 times a day.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5532120"/>
            <a:ext cx="6309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0" y="5532120"/>
            <a:ext cx="50800" cy="8686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573328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56235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Zero marketing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5879592"/>
            <a:ext cx="5486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No guest marketing list, no nationality analytics, no upsell revenue visibility.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1672" y="6492240"/>
            <a:ext cx="1005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333333"/>
                </a:solidFill>
                <a:latin typeface="Calibr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E2B"/>
          </a:solidFill>
          <a:ln>
            <a:solidFill>
              <a:srgbClr val="071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3220"/>
            <a:ext cx="274320" cy="254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3657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Georgia"/>
              </a:rPr>
              <a:t>One platform that handles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6B6D4"/>
                </a:solidFill>
                <a:latin typeface="Georgia"/>
              </a:rPr>
              <a:t>the complete guest journey.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445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BAAB8"/>
                </a:solidFill>
                <a:latin typeface="Calibri"/>
              </a:rPr>
              <a:t>GuestFlow Pro replaces every paper form, phone call, and manual follow-up with a branded
digital experience — from first enquiry to repeat booking.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971800"/>
            <a:ext cx="2103120" cy="411480"/>
          </a:xfrm>
          <a:prstGeom prst="roundRect">
            <a:avLst/>
          </a:prstGeom>
          <a:solidFill>
            <a:srgbClr val="083040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6B6D4"/>
                </a:solidFill>
                <a:latin typeface="Calibri"/>
              </a:rPr>
              <a:t>📋  Digital Check-in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971800"/>
            <a:ext cx="2103120" cy="411480"/>
          </a:xfrm>
          <a:prstGeom prst="roundRect">
            <a:avLst/>
          </a:prstGeom>
          <a:solidFill>
            <a:srgbClr val="083040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6B6D4"/>
                </a:solidFill>
                <a:latin typeface="Calibri"/>
              </a:rPr>
              <a:t>👥  Guest CRM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971800"/>
            <a:ext cx="2103120" cy="411480"/>
          </a:xfrm>
          <a:prstGeom prst="roundRect">
            <a:avLst/>
          </a:prstGeom>
          <a:solidFill>
            <a:srgbClr val="083040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6B6D4"/>
                </a:solidFill>
                <a:latin typeface="Calibri"/>
              </a:rPr>
              <a:t>📩  Booking Requests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971800"/>
            <a:ext cx="2103120" cy="411480"/>
          </a:xfrm>
          <a:prstGeom prst="roundRect">
            <a:avLst/>
          </a:prstGeom>
          <a:solidFill>
            <a:srgbClr val="083040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6B6D4"/>
                </a:solidFill>
                <a:latin typeface="Calibri"/>
              </a:rPr>
              <a:t>🗺️  Digital Concierge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2971800"/>
            <a:ext cx="2103120" cy="411480"/>
          </a:xfrm>
          <a:prstGeom prst="roundRect">
            <a:avLst/>
          </a:prstGeom>
          <a:solidFill>
            <a:srgbClr val="083040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6B6D4"/>
                </a:solidFill>
                <a:latin typeface="Calibri"/>
              </a:rPr>
              <a:t>⭐  Review Collection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47872"/>
            <a:ext cx="2103120" cy="411480"/>
          </a:xfrm>
          <a:prstGeom prst="roundRect">
            <a:avLst/>
          </a:prstGeom>
          <a:solidFill>
            <a:srgbClr val="083040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593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6B6D4"/>
                </a:solidFill>
                <a:latin typeface="Calibri"/>
              </a:rPr>
              <a:t>📊  Marketing Analytics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3547872"/>
            <a:ext cx="2103120" cy="411480"/>
          </a:xfrm>
          <a:prstGeom prst="roundRect">
            <a:avLst/>
          </a:prstGeom>
          <a:solidFill>
            <a:srgbClr val="083040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3593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6B6D4"/>
                </a:solidFill>
                <a:latin typeface="Calibri"/>
              </a:rPr>
              <a:t>🎨  White-label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3547872"/>
            <a:ext cx="2103120" cy="411480"/>
          </a:xfrm>
          <a:prstGeom prst="roundRect">
            <a:avLst/>
          </a:prstGeom>
          <a:solidFill>
            <a:srgbClr val="083040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3593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6B6D4"/>
                </a:solidFill>
                <a:latin typeface="Calibri"/>
              </a:rPr>
              <a:t>🔁  Webhooks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3547872"/>
            <a:ext cx="2103120" cy="411480"/>
          </a:xfrm>
          <a:prstGeom prst="roundRect">
            <a:avLst/>
          </a:prstGeom>
          <a:solidFill>
            <a:srgbClr val="083040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3593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6B6D4"/>
                </a:solidFill>
                <a:latin typeface="Calibri"/>
              </a:rPr>
              <a:t>🔑  API Keys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3547872"/>
            <a:ext cx="2103120" cy="411480"/>
          </a:xfrm>
          <a:prstGeom prst="roundRect">
            <a:avLst/>
          </a:prstGeom>
          <a:solidFill>
            <a:srgbClr val="083040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3593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6B6D4"/>
                </a:solidFill>
                <a:latin typeface="Calibri"/>
              </a:rPr>
              <a:t>🛎️  Service Upsells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217920"/>
            <a:ext cx="11091672" cy="25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263640"/>
            <a:ext cx="11091672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BAAB8"/>
                </a:solidFill>
                <a:latin typeface="Calibri"/>
              </a:rPr>
              <a:t>10 modules · One platform · Branded as your hotel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1672" y="6492240"/>
            <a:ext cx="1005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555555"/>
                </a:solidFill>
                <a:latin typeface="Calibr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052030"/>
          </a:solidFill>
          <a:ln>
            <a:solidFill>
              <a:srgbClr val="05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3220"/>
            <a:ext cx="274320" cy="254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3657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GUEST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From booking to repeat guest — every step covered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356868" y="1870964"/>
            <a:ext cx="1040384" cy="25400"/>
          </a:xfrm>
          <a:prstGeom prst="rect">
            <a:avLst/>
          </a:prstGeom>
          <a:solidFill>
            <a:srgbClr val="1A4A5E"/>
          </a:solidFill>
          <a:ln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2820" y="1691640"/>
            <a:ext cx="384048" cy="384048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2820" y="16916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140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BAAB8"/>
                </a:solidFill>
                <a:latin typeface="Calibri"/>
              </a:rPr>
              <a:t>Booking
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0048"/>
            <a:ext cx="1140968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  <a:latin typeface="Calibri"/>
              </a:rPr>
              <a:t>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89276" y="1870964"/>
            <a:ext cx="1040384" cy="25400"/>
          </a:xfrm>
          <a:prstGeom prst="rect">
            <a:avLst/>
          </a:prstGeom>
          <a:solidFill>
            <a:srgbClr val="1A4A5E"/>
          </a:solidFill>
          <a:ln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05228" y="1691640"/>
            <a:ext cx="384048" cy="384048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05228" y="16916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6768" y="2148840"/>
            <a:ext cx="1140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BAAB8"/>
                </a:solidFill>
                <a:latin typeface="Calibri"/>
              </a:rPr>
              <a:t>Check-in
Link 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6768" y="2670048"/>
            <a:ext cx="1140968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  <a:latin typeface="Calibri"/>
              </a:rPr>
              <a:t>LIVE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21684" y="1870964"/>
            <a:ext cx="1040384" cy="25400"/>
          </a:xfrm>
          <a:prstGeom prst="rect">
            <a:avLst/>
          </a:prstGeom>
          <a:solidFill>
            <a:srgbClr val="1A4A5E"/>
          </a:solidFill>
          <a:ln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7636" y="1691640"/>
            <a:ext cx="384048" cy="384048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7636" y="16916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176" y="2148840"/>
            <a:ext cx="1140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BAAB8"/>
                </a:solidFill>
                <a:latin typeface="Calibri"/>
              </a:rPr>
              <a:t>Online
Registration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9176" y="2670048"/>
            <a:ext cx="1140968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  <a:latin typeface="Calibri"/>
              </a:rPr>
              <a:t>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54092" y="1870964"/>
            <a:ext cx="1040384" cy="25400"/>
          </a:xfrm>
          <a:prstGeom prst="rect">
            <a:avLst/>
          </a:prstGeom>
          <a:solidFill>
            <a:srgbClr val="1A4A5E"/>
          </a:solidFill>
          <a:ln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70044" y="1691640"/>
            <a:ext cx="384048" cy="384048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0044" y="16916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🗺️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1584" y="2148840"/>
            <a:ext cx="1140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BAAB8"/>
                </a:solidFill>
                <a:latin typeface="Calibri"/>
              </a:rPr>
              <a:t>Digital
Concierge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1584" y="2670048"/>
            <a:ext cx="1140968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  <a:latin typeface="Calibri"/>
              </a:rPr>
              <a:t>LIVE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6500" y="1870964"/>
            <a:ext cx="1040384" cy="25400"/>
          </a:xfrm>
          <a:prstGeom prst="rect">
            <a:avLst/>
          </a:prstGeom>
          <a:solidFill>
            <a:srgbClr val="1A4A5E"/>
          </a:solidFill>
          <a:ln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02452" y="1691640"/>
            <a:ext cx="384048" cy="384048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2452" y="16916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🛎️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23992" y="2148840"/>
            <a:ext cx="1140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BAAB8"/>
                </a:solidFill>
                <a:latin typeface="Calibri"/>
              </a:rPr>
              <a:t>In-stay
Upsells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23992" y="2670048"/>
            <a:ext cx="1140968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  <a:latin typeface="Calibri"/>
              </a:rPr>
              <a:t>LIVE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18908" y="1870964"/>
            <a:ext cx="1040384" cy="25400"/>
          </a:xfrm>
          <a:prstGeom prst="rect">
            <a:avLst/>
          </a:prstGeom>
          <a:solidFill>
            <a:srgbClr val="1A4A5E"/>
          </a:solidFill>
          <a:ln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134860" y="1691640"/>
            <a:ext cx="384048" cy="384048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4860" y="16916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6400" y="2148840"/>
            <a:ext cx="1140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BAAB8"/>
                </a:solidFill>
                <a:latin typeface="Calibri"/>
              </a:rPr>
              <a:t>Review
Collection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56400" y="2670048"/>
            <a:ext cx="1140968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  <a:latin typeface="Calibri"/>
              </a:rPr>
              <a:t>LIVE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51316" y="1870964"/>
            <a:ext cx="1040384" cy="25400"/>
          </a:xfrm>
          <a:prstGeom prst="rect">
            <a:avLst/>
          </a:prstGeom>
          <a:solidFill>
            <a:srgbClr val="1A4A5E"/>
          </a:solidFill>
          <a:ln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67268" y="1691640"/>
            <a:ext cx="384048" cy="384048"/>
          </a:xfrm>
          <a:prstGeom prst="roundRect">
            <a:avLst/>
          </a:prstGeom>
          <a:solidFill>
            <a:srgbClr val="1A2A35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7268" y="16916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88808" y="2148840"/>
            <a:ext cx="1140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BAAB8"/>
                </a:solidFill>
                <a:latin typeface="Calibri"/>
              </a:rPr>
              <a:t>Checkout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88808" y="2670048"/>
            <a:ext cx="1140968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59E0B"/>
                </a:solidFill>
                <a:latin typeface="Calibri"/>
              </a:rPr>
              <a:t>SOON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83724" y="1870964"/>
            <a:ext cx="1040384" cy="25400"/>
          </a:xfrm>
          <a:prstGeom prst="rect">
            <a:avLst/>
          </a:prstGeom>
          <a:solidFill>
            <a:srgbClr val="1A4A5E"/>
          </a:solidFill>
          <a:ln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599676" y="1691640"/>
            <a:ext cx="384048" cy="384048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99676" y="16916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21216" y="2148840"/>
            <a:ext cx="1140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BAAB8"/>
                </a:solidFill>
                <a:latin typeface="Calibri"/>
              </a:rPr>
              <a:t>Future
Promos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21216" y="2670048"/>
            <a:ext cx="1140968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  <a:latin typeface="Calibri"/>
              </a:rPr>
              <a:t>LIVE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832084" y="1691640"/>
            <a:ext cx="384048" cy="384048"/>
          </a:xfrm>
          <a:prstGeom prst="roundRect">
            <a:avLst/>
          </a:prstGeom>
          <a:solidFill>
            <a:srgbClr val="1A2A35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32084" y="16916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53624" y="2148840"/>
            <a:ext cx="1140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BAAB8"/>
                </a:solidFill>
                <a:latin typeface="Calibri"/>
              </a:rPr>
              <a:t>Repeat
Booking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53624" y="2670048"/>
            <a:ext cx="1140968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59E0B"/>
                </a:solidFill>
                <a:latin typeface="Calibri"/>
              </a:rPr>
              <a:t>SOON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4206240"/>
            <a:ext cx="3605784" cy="2377440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8640" y="4206240"/>
            <a:ext cx="3605784" cy="381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4389120"/>
            <a:ext cx="3331464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Before Arrival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4754880"/>
            <a:ext cx="33314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BAAB8"/>
                </a:solidFill>
                <a:latin typeface="Calibri"/>
              </a:rPr>
              <a:t>Guest submits booking enquiry. Hotel confirms. Check-in link sent via WhatsApp or email. Guest registers fully before arriving — zero queues at reception.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91584" y="4206240"/>
            <a:ext cx="3605784" cy="2377440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91584" y="4206240"/>
            <a:ext cx="3605784" cy="381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28744" y="4389120"/>
            <a:ext cx="3331464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During Stay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28744" y="4754880"/>
            <a:ext cx="33314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BAAB8"/>
                </a:solidFill>
                <a:latin typeface="Calibri"/>
              </a:rPr>
              <a:t>Guest accesses digital concierge for restaurants, tours, and parking. Orders hotel services directly. All activity tracked in the manager dashboard.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34528" y="4206240"/>
            <a:ext cx="3605784" cy="2377440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34528" y="4206240"/>
            <a:ext cx="3605784" cy="381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71688" y="4389120"/>
            <a:ext cx="3331464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After Checkout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71688" y="4754880"/>
            <a:ext cx="33314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BAAB8"/>
                </a:solidFill>
                <a:latin typeface="Calibri"/>
              </a:rPr>
              <a:t>Review link sent automatically. Happy guests redirected to Google or TripAdvisor. Opted-in guests added to marketing list for future campaigns.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91672" y="6492240"/>
            <a:ext cx="1005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555555"/>
                </a:solidFill>
                <a:latin typeface="Calibr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3220"/>
            <a:ext cx="274320" cy="254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3657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PLATFORM SCREEN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Hotel Manager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2286000" cy="25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BAAB8"/>
                </a:solidFill>
                <a:latin typeface="Calibri"/>
              </a:rPr>
              <a:t>One view for everything. Real-time check-in stats, guest CRM, booking requests, and review scores — all in a sidebar-driven dashboard.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4940"/>
            <a:ext cx="76200" cy="762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06040"/>
            <a:ext cx="51937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AAB8"/>
                </a:solidFill>
                <a:latin typeface="Calibri"/>
              </a:rPr>
              <a:t>Live tiles: today's arrivals, pending registrations, total guests, avg rating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61868"/>
            <a:ext cx="76200" cy="762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172968"/>
            <a:ext cx="51937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AAB8"/>
                </a:solidFill>
                <a:latin typeface="Calibri"/>
              </a:rPr>
              <a:t>Guest list with nationality, room number, document status, marketing opt-in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28796"/>
            <a:ext cx="76200" cy="762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739896"/>
            <a:ext cx="51937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AAB8"/>
                </a:solidFill>
                <a:latin typeface="Calibri"/>
              </a:rPr>
              <a:t>Booking requests inbox — confirm or decline with one click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95724"/>
            <a:ext cx="76200" cy="762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306824"/>
            <a:ext cx="51937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AAB8"/>
                </a:solidFill>
                <a:latin typeface="Calibri"/>
              </a:rPr>
              <a:t>Marketing analytics: opt-in rate, top nationalities, 6-month trend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658368"/>
            <a:ext cx="5212080" cy="5943600"/>
          </a:xfrm>
          <a:prstGeom prst="roundRect">
            <a:avLst/>
          </a:prstGeom>
          <a:solidFill>
            <a:srgbClr val="0A1A2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658368"/>
            <a:ext cx="5212080" cy="292608"/>
          </a:xfrm>
          <a:prstGeom prst="rect">
            <a:avLst/>
          </a:prstGeom>
          <a:solidFill>
            <a:srgbClr val="030C14"/>
          </a:solidFill>
          <a:ln>
            <a:solidFill>
              <a:srgbClr val="030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795528"/>
            <a:ext cx="114300" cy="114300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20840" y="795528"/>
            <a:ext cx="114300" cy="114300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03720" y="795528"/>
            <a:ext cx="114300" cy="114300"/>
          </a:xfrm>
          <a:prstGeom prst="round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694944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45566"/>
                </a:solidFill>
                <a:latin typeface="Consolas"/>
              </a:rPr>
              <a:t>guestflowpro.com/dashboard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950976"/>
            <a:ext cx="1097280" cy="5650992"/>
          </a:xfrm>
          <a:prstGeom prst="rect">
            <a:avLst/>
          </a:prstGeom>
          <a:solidFill>
            <a:srgbClr val="0F1E29"/>
          </a:solidFill>
          <a:ln>
            <a:solidFill>
              <a:srgbClr val="0F1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10528" y="1005840"/>
            <a:ext cx="45720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10058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Hotel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1417320"/>
            <a:ext cx="100584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1463040"/>
            <a:ext cx="9601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● 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011680"/>
            <a:ext cx="9601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BAAB8"/>
                </a:solidFill>
                <a:latin typeface="Calibri"/>
              </a:rPr>
              <a:t>  Check-in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2560320"/>
            <a:ext cx="9601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BAAB8"/>
                </a:solidFill>
                <a:latin typeface="Calibri"/>
              </a:rPr>
              <a:t>  Guest CRM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3108960"/>
            <a:ext cx="9601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BAAB8"/>
                </a:solidFill>
                <a:latin typeface="Calibri"/>
              </a:rPr>
              <a:t>  Requests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3657600"/>
            <a:ext cx="9601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BAAB8"/>
                </a:solidFill>
                <a:latin typeface="Calibri"/>
              </a:rPr>
              <a:t>  Reviews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206240"/>
            <a:ext cx="9601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BAAB8"/>
                </a:solidFill>
                <a:latin typeface="Calibri"/>
              </a:rPr>
              <a:t>  Marketing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4754880"/>
            <a:ext cx="9601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BAAB8"/>
                </a:solidFill>
                <a:latin typeface="Calibri"/>
              </a:rPr>
              <a:t>  API Keys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5303520"/>
            <a:ext cx="9601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BAAB8"/>
                </a:solidFill>
                <a:latin typeface="Calibri"/>
              </a:rPr>
              <a:t>  Services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950976"/>
            <a:ext cx="4069080" cy="5650992"/>
          </a:xfrm>
          <a:prstGeom prst="rect">
            <a:avLst/>
          </a:prstGeom>
          <a:solidFill>
            <a:srgbClr val="0A1A25"/>
          </a:solidFill>
          <a:ln>
            <a:solidFill>
              <a:srgbClr val="0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53528" y="1005840"/>
            <a:ext cx="4069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Kashaf Hotel · Florence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53528" y="1325880"/>
            <a:ext cx="40690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BAAB8"/>
                </a:solidFill>
                <a:latin typeface="Calibri"/>
              </a:rPr>
              <a:t>Manage your hotel from one place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53528" y="1600200"/>
            <a:ext cx="914400" cy="658368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53528" y="1645920"/>
            <a:ext cx="9144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B6D4"/>
                </a:solidFill>
                <a:latin typeface="Calibri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53528" y="2048256"/>
            <a:ext cx="914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7BAAB8"/>
                </a:solidFill>
                <a:latin typeface="Calibri"/>
              </a:rPr>
              <a:t>CHECK-INS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59368" y="1600200"/>
            <a:ext cx="914400" cy="658368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59368" y="1645920"/>
            <a:ext cx="9144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59368" y="2048256"/>
            <a:ext cx="914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7BAAB8"/>
                </a:solidFill>
                <a:latin typeface="Calibri"/>
              </a:rPr>
              <a:t>PENDING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65208" y="1600200"/>
            <a:ext cx="914400" cy="658368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65208" y="1645920"/>
            <a:ext cx="9144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  <a:latin typeface="Calibri"/>
              </a:rPr>
              <a:t>248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65208" y="2048256"/>
            <a:ext cx="914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7BAAB8"/>
                </a:solidFill>
                <a:latin typeface="Calibri"/>
              </a:rPr>
              <a:t>GUESTS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671048" y="1600200"/>
            <a:ext cx="914400" cy="658368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71048" y="1645920"/>
            <a:ext cx="9144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5CF6"/>
                </a:solidFill>
                <a:latin typeface="Calibri"/>
              </a:rPr>
              <a:t>4.8★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71048" y="2048256"/>
            <a:ext cx="9144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7BAAB8"/>
                </a:solidFill>
                <a:latin typeface="Calibri"/>
              </a:rPr>
              <a:t>RATING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53528" y="2395728"/>
            <a:ext cx="40690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7BAAB8"/>
                </a:solidFill>
                <a:latin typeface="Calibri"/>
              </a:rPr>
              <a:t>RECENT CHECK-INS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07808" y="2633472"/>
            <a:ext cx="3941064" cy="457200"/>
          </a:xfrm>
          <a:prstGeom prst="roundRect">
            <a:avLst/>
          </a:prstGeom>
          <a:solidFill>
            <a:srgbClr val="0D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653528" y="2697480"/>
            <a:ext cx="329184" cy="32918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53528" y="26974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26883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Marco Rossi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2889504"/>
            <a:ext cx="20116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BAAB8"/>
                </a:solidFill>
                <a:latin typeface="Calibri"/>
              </a:rPr>
              <a:t>Room 204 · IT Passport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89920" y="2761488"/>
            <a:ext cx="685800" cy="201168"/>
          </a:xfrm>
          <a:prstGeom prst="roundRect">
            <a:avLst/>
          </a:prstGeom>
          <a:solidFill>
            <a:srgbClr val="0630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89920" y="276148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10B981"/>
                </a:solidFill>
                <a:latin typeface="Calibri"/>
              </a:rPr>
              <a:t>Done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607808" y="3163824"/>
            <a:ext cx="3941064" cy="457200"/>
          </a:xfrm>
          <a:prstGeom prst="roundRect">
            <a:avLst/>
          </a:prstGeom>
          <a:solidFill>
            <a:srgbClr val="0D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653528" y="3227832"/>
            <a:ext cx="329184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53528" y="322783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32186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Sophie Laurent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6720" y="3419856"/>
            <a:ext cx="20116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BAAB8"/>
                </a:solidFill>
                <a:latin typeface="Calibri"/>
              </a:rPr>
              <a:t>Room 118 · FR Passport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789920" y="3291840"/>
            <a:ext cx="685800" cy="201168"/>
          </a:xfrm>
          <a:prstGeom prst="roundRect">
            <a:avLst/>
          </a:prstGeom>
          <a:solidFill>
            <a:srgbClr val="40280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789920" y="32918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59E0B"/>
                </a:solidFill>
                <a:latin typeface="Calibri"/>
              </a:rPr>
              <a:t>Pending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607808" y="3694176"/>
            <a:ext cx="3941064" cy="457200"/>
          </a:xfrm>
          <a:prstGeom prst="roundRect">
            <a:avLst/>
          </a:prstGeom>
          <a:solidFill>
            <a:srgbClr val="0D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653528" y="3758184"/>
            <a:ext cx="329184" cy="32918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53528" y="375818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J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46720" y="3749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James Clarke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0" y="3950208"/>
            <a:ext cx="20116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BAAB8"/>
                </a:solidFill>
                <a:latin typeface="Calibri"/>
              </a:rPr>
              <a:t>Room 307 · GB Passport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789920" y="3822192"/>
            <a:ext cx="685800" cy="201168"/>
          </a:xfrm>
          <a:prstGeom prst="roundRect">
            <a:avLst/>
          </a:prstGeom>
          <a:solidFill>
            <a:srgbClr val="0630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789920" y="382219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10B981"/>
                </a:solidFill>
                <a:latin typeface="Calibri"/>
              </a:rPr>
              <a:t>Done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91672" y="6492240"/>
            <a:ext cx="1005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555555"/>
                </a:solidFill>
                <a:latin typeface="Calibr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3220"/>
            <a:ext cx="274320" cy="254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3657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PLATFORM SCREEN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Digital Check-in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2286000" cy="25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BAAB8"/>
                </a:solidFill>
                <a:latin typeface="Calibri"/>
              </a:rPr>
              <a:t>Guests register fully before arriving — on their phone, via a unique branded link sent by WhatsApp or email. No app download, no queue.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4940"/>
            <a:ext cx="76200" cy="762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06040"/>
            <a:ext cx="51937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AAB8"/>
                </a:solidFill>
                <a:latin typeface="Calibri"/>
              </a:rPr>
              <a:t>Personal details, nationality, passport number and photo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61868"/>
            <a:ext cx="76200" cy="762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172968"/>
            <a:ext cx="51937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AAB8"/>
                </a:solidFill>
                <a:latin typeface="Calibri"/>
              </a:rPr>
              <a:t>Digital signature and GDPR consent captured in one 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28796"/>
            <a:ext cx="76200" cy="762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739896"/>
            <a:ext cx="51937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AAB8"/>
                </a:solidFill>
                <a:latin typeface="Calibri"/>
              </a:rPr>
              <a:t>Marketing opt-in checkbox — builds your campaign list automatically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95724"/>
            <a:ext cx="76200" cy="762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306824"/>
            <a:ext cx="51937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AAB8"/>
                </a:solidFill>
                <a:latin typeface="Calibri"/>
              </a:rPr>
              <a:t>Fully branded: your hotel logo, name, and brand color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62652"/>
            <a:ext cx="76200" cy="762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873752"/>
            <a:ext cx="51937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AAB8"/>
                </a:solidFill>
                <a:latin typeface="Calibri"/>
              </a:rPr>
              <a:t>Works on any mobile — iOS, Android, any browser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658368"/>
            <a:ext cx="5212080" cy="5943600"/>
          </a:xfrm>
          <a:prstGeom prst="roundRect">
            <a:avLst/>
          </a:prstGeom>
          <a:solidFill>
            <a:srgbClr val="0A1A2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658368"/>
            <a:ext cx="5212080" cy="292608"/>
          </a:xfrm>
          <a:prstGeom prst="rect">
            <a:avLst/>
          </a:prstGeom>
          <a:solidFill>
            <a:srgbClr val="030C14"/>
          </a:solidFill>
          <a:ln>
            <a:solidFill>
              <a:srgbClr val="030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795528"/>
            <a:ext cx="114300" cy="114300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795528"/>
            <a:ext cx="114300" cy="114300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795528"/>
            <a:ext cx="114300" cy="114300"/>
          </a:xfrm>
          <a:prstGeom prst="round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694944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45566"/>
                </a:solidFill>
                <a:latin typeface="Consolas"/>
              </a:rPr>
              <a:t>guestflowpro.com/checkin/a3f9b2…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950976"/>
            <a:ext cx="5212080" cy="5650992"/>
          </a:xfrm>
          <a:prstGeom prst="rect">
            <a:avLst/>
          </a:prstGeom>
          <a:solidFill>
            <a:srgbClr val="020B12"/>
          </a:solidFill>
          <a:ln>
            <a:solidFill>
              <a:srgbClr val="020B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950976"/>
            <a:ext cx="5212080" cy="5650992"/>
          </a:xfrm>
          <a:prstGeom prst="rect">
            <a:avLst/>
          </a:prstGeom>
          <a:solidFill>
            <a:srgbClr val="083344"/>
          </a:solidFill>
          <a:ln>
            <a:solidFill>
              <a:srgbClr val="08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417320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Kashaf Hotel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737360"/>
            <a:ext cx="5212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6B6D4"/>
                </a:solidFill>
                <a:latin typeface="Calibri"/>
              </a:rPr>
              <a:t>Florence, Italy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2103120"/>
            <a:ext cx="822960" cy="508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80" y="2103120"/>
            <a:ext cx="822960" cy="508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1120" y="2103120"/>
            <a:ext cx="822960" cy="50800"/>
          </a:xfrm>
          <a:prstGeom prst="rect">
            <a:avLst/>
          </a:prstGeom>
          <a:solidFill>
            <a:srgbClr val="1A3A48"/>
          </a:solidFill>
          <a:ln>
            <a:solidFill>
              <a:srgbClr val="1A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66960" y="2103120"/>
            <a:ext cx="822960" cy="50800"/>
          </a:xfrm>
          <a:prstGeom prst="rect">
            <a:avLst/>
          </a:prstGeom>
          <a:solidFill>
            <a:srgbClr val="1A3A48"/>
          </a:solidFill>
          <a:ln>
            <a:solidFill>
              <a:srgbClr val="1A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75120" y="2331720"/>
            <a:ext cx="4663440" cy="4114800"/>
          </a:xfrm>
          <a:prstGeom prst="roundRect">
            <a:avLst/>
          </a:prstGeom>
          <a:solidFill>
            <a:srgbClr val="0A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2514600"/>
            <a:ext cx="448056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06B6D4"/>
                </a:solidFill>
                <a:latin typeface="Calibri"/>
              </a:rPr>
              <a:t>STEP 2 OF 4 — PERSONAL DETAILS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788920"/>
            <a:ext cx="448056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1" i="0">
                <a:solidFill>
                  <a:srgbClr val="06B6D4"/>
                </a:solidFill>
                <a:latin typeface="Calibri"/>
              </a:rPr>
              <a:t>FIRST NAME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2971800"/>
            <a:ext cx="4434840" cy="347472"/>
          </a:xfrm>
          <a:prstGeom prst="roundRect">
            <a:avLst/>
          </a:prstGeom>
          <a:solidFill>
            <a:srgbClr val="081E2B"/>
          </a:solidFill>
          <a:ln w="12700">
            <a:solidFill>
              <a:srgbClr val="1A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3474720"/>
            <a:ext cx="448056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1" i="0">
                <a:solidFill>
                  <a:srgbClr val="06B6D4"/>
                </a:solidFill>
                <a:latin typeface="Calibri"/>
              </a:rPr>
              <a:t>LAST NAME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3657600"/>
            <a:ext cx="4434840" cy="347472"/>
          </a:xfrm>
          <a:prstGeom prst="roundRect">
            <a:avLst/>
          </a:prstGeom>
          <a:solidFill>
            <a:srgbClr val="081E2B"/>
          </a:solidFill>
          <a:ln w="12700">
            <a:solidFill>
              <a:srgbClr val="1A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4160520"/>
            <a:ext cx="448056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1" i="0">
                <a:solidFill>
                  <a:srgbClr val="06B6D4"/>
                </a:solidFill>
                <a:latin typeface="Calibri"/>
              </a:rPr>
              <a:t>NATIONALITY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0" y="4343400"/>
            <a:ext cx="4434840" cy="347472"/>
          </a:xfrm>
          <a:prstGeom prst="roundRect">
            <a:avLst/>
          </a:prstGeom>
          <a:solidFill>
            <a:srgbClr val="081E2B"/>
          </a:solidFill>
          <a:ln w="12700">
            <a:solidFill>
              <a:srgbClr val="1A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4846320"/>
            <a:ext cx="448056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1" i="0">
                <a:solidFill>
                  <a:srgbClr val="06B6D4"/>
                </a:solidFill>
                <a:latin typeface="Calibri"/>
              </a:rPr>
              <a:t>PASSPORT / DOCUMENT NO.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5029200"/>
            <a:ext cx="4434840" cy="347472"/>
          </a:xfrm>
          <a:prstGeom prst="roundRect">
            <a:avLst/>
          </a:prstGeom>
          <a:solidFill>
            <a:srgbClr val="081E2B"/>
          </a:solidFill>
          <a:ln w="12700">
            <a:solidFill>
              <a:srgbClr val="1A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858000" y="5577840"/>
            <a:ext cx="4434840" cy="4114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5577840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Continue 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91672" y="6492240"/>
            <a:ext cx="1005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555555"/>
                </a:solidFill>
                <a:latin typeface="Calibr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3220"/>
            <a:ext cx="274320" cy="254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3657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PLATFORM SCREEN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Digital Concierge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2286000" cy="25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BAAB8"/>
                </a:solidFill>
                <a:latin typeface="Calibri"/>
              </a:rPr>
              <a:t>Your hotel's public page is a full city guide — AI-described restaurants, parking, nightlife, and tours. Plus your own hotel services, orderable in-app.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4940"/>
            <a:ext cx="76200" cy="762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06040"/>
            <a:ext cx="51937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AAB8"/>
                </a:solidFill>
                <a:latin typeface="Calibri"/>
              </a:rPr>
              <a:t>Nearby restaurants with Google ratings, open hours, AI descriptions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61868"/>
            <a:ext cx="76200" cy="762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172968"/>
            <a:ext cx="51937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AAB8"/>
                </a:solidFill>
                <a:latin typeface="Calibri"/>
              </a:rPr>
              <a:t>Parking, nightlife, and attraction tabs — real-time Google Places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28796"/>
            <a:ext cx="76200" cy="762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739896"/>
            <a:ext cx="51937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AAB8"/>
                </a:solidFill>
                <a:latin typeface="Calibri"/>
              </a:rPr>
              <a:t>GetYourGuide tour widgets — guests book, hotel earns affiliate commission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95724"/>
            <a:ext cx="76200" cy="762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306824"/>
            <a:ext cx="51937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AAB8"/>
                </a:solidFill>
                <a:latin typeface="Calibri"/>
              </a:rPr>
              <a:t>Hotel services (room service, spa, transport) with in-app ordering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658368"/>
            <a:ext cx="5212080" cy="5943600"/>
          </a:xfrm>
          <a:prstGeom prst="roundRect">
            <a:avLst/>
          </a:prstGeom>
          <a:solidFill>
            <a:srgbClr val="0A1A2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658368"/>
            <a:ext cx="5212080" cy="292608"/>
          </a:xfrm>
          <a:prstGeom prst="rect">
            <a:avLst/>
          </a:prstGeom>
          <a:solidFill>
            <a:srgbClr val="030C14"/>
          </a:solidFill>
          <a:ln>
            <a:solidFill>
              <a:srgbClr val="030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795528"/>
            <a:ext cx="114300" cy="114300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20840" y="795528"/>
            <a:ext cx="114300" cy="114300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03720" y="795528"/>
            <a:ext cx="114300" cy="114300"/>
          </a:xfrm>
          <a:prstGeom prst="round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694944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45566"/>
                </a:solidFill>
                <a:latin typeface="Consolas"/>
              </a:rPr>
              <a:t>guestflowpro.com/h/08b8a38a…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950976"/>
            <a:ext cx="5212080" cy="5650992"/>
          </a:xfrm>
          <a:prstGeom prst="rect">
            <a:avLst/>
          </a:prstGeom>
          <a:solidFill>
            <a:srgbClr val="ECEEF3"/>
          </a:solidFill>
          <a:ln>
            <a:solidFill>
              <a:srgbClr val="EC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950976"/>
            <a:ext cx="5212080" cy="960120"/>
          </a:xfrm>
          <a:prstGeom prst="rect">
            <a:avLst/>
          </a:prstGeom>
          <a:solidFill>
            <a:srgbClr val="020B12"/>
          </a:solidFill>
          <a:ln>
            <a:solidFill>
              <a:srgbClr val="020B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1051560"/>
            <a:ext cx="457200" cy="457200"/>
          </a:xfrm>
          <a:prstGeom prst="roundRect">
            <a:avLst/>
          </a:prstGeom>
          <a:solidFill>
            <a:srgbClr val="20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1078992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Kashaf Hotel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1371600"/>
            <a:ext cx="2743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6B6D4"/>
                </a:solidFill>
                <a:latin typeface="Calibri"/>
              </a:rPr>
              <a:t>📍 Florence, Italy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0" y="1143000"/>
            <a:ext cx="914400" cy="228600"/>
          </a:xfrm>
          <a:prstGeom prst="roundRect">
            <a:avLst/>
          </a:prstGeom>
          <a:solidFill>
            <a:srgbClr val="0630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1143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10B981"/>
                </a:solidFill>
                <a:latin typeface="Calibri"/>
              </a:rPr>
              <a:t>✓ Verified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2011680"/>
            <a:ext cx="1170432" cy="347472"/>
          </a:xfrm>
          <a:prstGeom prst="roundRect">
            <a:avLst/>
          </a:prstGeom>
          <a:solidFill>
            <a:srgbClr val="0E7490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011680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🍽 Restaurant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17536" y="2011680"/>
            <a:ext cx="1170432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17536" y="2011680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72A"/>
                </a:solidFill>
                <a:latin typeface="Calibri"/>
              </a:rPr>
              <a:t>🅿 Parking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42832" y="2011680"/>
            <a:ext cx="1170432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42832" y="2011680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72A"/>
                </a:solidFill>
                <a:latin typeface="Calibri"/>
              </a:rPr>
              <a:t>🌙 Nightlife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68128" y="2011680"/>
            <a:ext cx="1170432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68128" y="2011680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72A"/>
                </a:solidFill>
                <a:latin typeface="Calibri"/>
              </a:rPr>
              <a:t>✈ Tours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0528" y="2487168"/>
            <a:ext cx="16002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10528" y="2487168"/>
            <a:ext cx="1600200" cy="100584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2487168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1968" y="356616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  <a:latin typeface="Calibri"/>
              </a:rPr>
              <a:t>Club Sandwich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1968" y="387705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£8.50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01968" y="5120640"/>
            <a:ext cx="1417320" cy="3657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1968" y="5120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Book Now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02168" y="2487168"/>
            <a:ext cx="16002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02168" y="2487168"/>
            <a:ext cx="1600200" cy="100584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02168" y="2487168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3608" y="356616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  <a:latin typeface="Calibri"/>
              </a:rPr>
              <a:t>Full Massage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93608" y="387705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£65.00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93608" y="5120640"/>
            <a:ext cx="14173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93608" y="5120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Book Now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93808" y="2487168"/>
            <a:ext cx="16002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893808" y="2487168"/>
            <a:ext cx="1600200" cy="10058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93808" y="2487168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85248" y="356616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  <a:latin typeface="Calibri"/>
              </a:rPr>
              <a:t>Airport Transfer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85248" y="387705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£45.00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85248" y="5120640"/>
            <a:ext cx="14173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85248" y="5120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Book Now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91672" y="6492240"/>
            <a:ext cx="1005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555555"/>
                </a:solidFill>
                <a:latin typeface="Calibr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3220"/>
            <a:ext cx="274320" cy="254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3657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PLATFORM SCREEN 4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Review Collection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2286000" cy="25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BAAB8"/>
                </a:solidFill>
                <a:latin typeface="Calibri"/>
              </a:rPr>
              <a:t>After checkout, a branded review link is sent to the guest. They rate their stay privately — satisfied guests auto-redirected to Google or TripAdvisor.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4940"/>
            <a:ext cx="76200" cy="762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06040"/>
            <a:ext cx="51937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AAB8"/>
                </a:solidFill>
                <a:latin typeface="Calibri"/>
              </a:rPr>
              <a:t>5-star animated rating interface on a fully branded 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61868"/>
            <a:ext cx="76200" cy="762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172968"/>
            <a:ext cx="51937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AAB8"/>
                </a:solidFill>
                <a:latin typeface="Calibri"/>
              </a:rPr>
              <a:t>Private comment captured before any public redirect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28796"/>
            <a:ext cx="76200" cy="762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739896"/>
            <a:ext cx="51937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AAB8"/>
                </a:solidFill>
                <a:latin typeface="Calibri"/>
              </a:rPr>
              <a:t>Happy guests (4–5 stars) auto-redirected to Google or TripAdvisor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95724"/>
            <a:ext cx="76200" cy="762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306824"/>
            <a:ext cx="51937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AAB8"/>
                </a:solidFill>
                <a:latin typeface="Calibri"/>
              </a:rPr>
              <a:t>All reviews visible in the dashboard with date and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62652"/>
            <a:ext cx="76200" cy="762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873752"/>
            <a:ext cx="51937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AAB8"/>
                </a:solidFill>
                <a:latin typeface="Calibri"/>
              </a:rPr>
              <a:t>Average score tracked over time with monthly trend chart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658368"/>
            <a:ext cx="5212080" cy="5943600"/>
          </a:xfrm>
          <a:prstGeom prst="roundRect">
            <a:avLst/>
          </a:prstGeom>
          <a:solidFill>
            <a:srgbClr val="0A1A2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658368"/>
            <a:ext cx="5212080" cy="292608"/>
          </a:xfrm>
          <a:prstGeom prst="rect">
            <a:avLst/>
          </a:prstGeom>
          <a:solidFill>
            <a:srgbClr val="030C14"/>
          </a:solidFill>
          <a:ln>
            <a:solidFill>
              <a:srgbClr val="030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795528"/>
            <a:ext cx="114300" cy="114300"/>
          </a:xfrm>
          <a:prstGeom prst="round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795528"/>
            <a:ext cx="114300" cy="114300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795528"/>
            <a:ext cx="114300" cy="114300"/>
          </a:xfrm>
          <a:prstGeom prst="round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694944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45566"/>
                </a:solidFill>
                <a:latin typeface="Consolas"/>
              </a:rPr>
              <a:t>guestflowpro.com/review/f7c2a1…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950976"/>
            <a:ext cx="5212080" cy="5650992"/>
          </a:xfrm>
          <a:prstGeom prst="rect">
            <a:avLst/>
          </a:prstGeom>
          <a:solidFill>
            <a:srgbClr val="020B12"/>
          </a:solidFill>
          <a:ln>
            <a:solidFill>
              <a:srgbClr val="020B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950976"/>
            <a:ext cx="5212080" cy="5650992"/>
          </a:xfrm>
          <a:prstGeom prst="rect">
            <a:avLst/>
          </a:prstGeom>
          <a:solidFill>
            <a:srgbClr val="052230"/>
          </a:solidFill>
          <a:ln>
            <a:solidFill>
              <a:srgbClr val="05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325880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Kashaf Hotel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664208"/>
            <a:ext cx="5212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BAAB8"/>
                </a:solidFill>
                <a:latin typeface="Calibri"/>
              </a:rPr>
              <a:t>Thank you for your stay, Marco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011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⭐⭐⭐⭐⭐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606040"/>
            <a:ext cx="521208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6B6D4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657600"/>
            <a:ext cx="5212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7BAAB8"/>
                </a:solidFill>
                <a:latin typeface="Calibri"/>
              </a:rPr>
              <a:t>EXCELLENT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3977639"/>
            <a:ext cx="4663440" cy="777240"/>
          </a:xfrm>
          <a:prstGeom prst="roundRect">
            <a:avLst/>
          </a:prstGeom>
          <a:solidFill>
            <a:srgbClr val="0A2535"/>
          </a:solidFill>
          <a:ln w="12700">
            <a:solidFill>
              <a:srgbClr val="1A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75120" y="4892040"/>
            <a:ext cx="4663440" cy="36576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892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Submit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5376672"/>
            <a:ext cx="2263140" cy="274320"/>
          </a:xfrm>
          <a:prstGeom prst="roundRect">
            <a:avLst/>
          </a:prstGeom>
          <a:solidFill>
            <a:srgbClr val="301010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5376672"/>
            <a:ext cx="22631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EA4335"/>
                </a:solidFill>
                <a:latin typeface="Calibri"/>
              </a:rPr>
              <a:t>📍 Google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75420" y="5376672"/>
            <a:ext cx="2263140" cy="274320"/>
          </a:xfrm>
          <a:prstGeom prst="roundRect">
            <a:avLst/>
          </a:prstGeom>
          <a:solidFill>
            <a:srgbClr val="002830"/>
          </a:solidFill>
          <a:ln w="12700">
            <a:solidFill>
              <a:srgbClr val="00A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75420" y="5376672"/>
            <a:ext cx="22631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AFBC"/>
                </a:solidFill>
                <a:latin typeface="Calibri"/>
              </a:rPr>
              <a:t>✈ TripAdvisor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1672" y="6492240"/>
            <a:ext cx="1005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555555"/>
                </a:solidFill>
                <a:latin typeface="Calibr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052030"/>
          </a:solidFill>
          <a:ln>
            <a:solidFill>
              <a:srgbClr val="05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3220"/>
            <a:ext cx="274320" cy="254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3657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FOR HOTEL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9 ways GuestFlow Pro transforms your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666744" cy="1298448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666744" cy="381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270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01368"/>
            <a:ext cx="3392424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Paperless Check-in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39112"/>
            <a:ext cx="3392424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BAAB8"/>
                </a:solidFill>
                <a:latin typeface="Calibri"/>
              </a:rPr>
              <a:t>Full registration on the guest's phone before arrival. Passport, signature, GDPR — all digital.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1104" y="1417320"/>
            <a:ext cx="3666744" cy="1298448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1104" y="1417320"/>
            <a:ext cx="3666744" cy="381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15270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1801368"/>
            <a:ext cx="3392424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Guest CRM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2039112"/>
            <a:ext cx="3392424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BAAB8"/>
                </a:solidFill>
                <a:latin typeface="Calibri"/>
              </a:rPr>
              <a:t>Every guest stored with nationality, contact, and marketing opt-in. Search, filter, export anytime.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1417320"/>
            <a:ext cx="3666744" cy="1298448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73568" y="1417320"/>
            <a:ext cx="3666744" cy="381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15270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1801368"/>
            <a:ext cx="3392424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Booking Requests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8" y="2039112"/>
            <a:ext cx="3392424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BAAB8"/>
                </a:solidFill>
                <a:latin typeface="Calibri"/>
              </a:rPr>
              <a:t>Public enquiry form → confirm or decline dashboard. Private notes only your team can see.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788920"/>
            <a:ext cx="3666744" cy="1298448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788920"/>
            <a:ext cx="3666744" cy="3810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8986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172968"/>
            <a:ext cx="3392424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Review Collection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410712"/>
            <a:ext cx="3392424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BAAB8"/>
                </a:solidFill>
                <a:latin typeface="Calibri"/>
              </a:rPr>
              <a:t>Automated post-checkout review links. Happy guests redirected to Google or TripAdvisor.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61104" y="2788920"/>
            <a:ext cx="3666744" cy="1298448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61104" y="2788920"/>
            <a:ext cx="3666744" cy="381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28986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3172968"/>
            <a:ext cx="3392424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White-label Branding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8264" y="3410712"/>
            <a:ext cx="3392424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BAAB8"/>
                </a:solidFill>
                <a:latin typeface="Calibri"/>
              </a:rPr>
              <a:t>Your logo, your color, your welcome message. Guests see your hotel — not our platform.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73568" y="2788920"/>
            <a:ext cx="3666744" cy="1298448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73568" y="2788920"/>
            <a:ext cx="3666744" cy="381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0728" y="28986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🛎️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0728" y="3172968"/>
            <a:ext cx="3392424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Service Upsells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0728" y="3410712"/>
            <a:ext cx="3392424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BAAB8"/>
                </a:solidFill>
                <a:latin typeface="Calibri"/>
              </a:rPr>
              <a:t>Room service, spa, transport orderable in-app. Orders appear in your dashboard immediately.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160520"/>
            <a:ext cx="3666744" cy="1298448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160520"/>
            <a:ext cx="3666744" cy="381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2702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544568"/>
            <a:ext cx="3392424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Marketing 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782312"/>
            <a:ext cx="3392424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BAAB8"/>
                </a:solidFill>
                <a:latin typeface="Calibri"/>
              </a:rPr>
              <a:t>Opt-in rate, nationality breakdown, 6-month trend. Export opted-in list as CSV for campaigns.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61104" y="4160520"/>
            <a:ext cx="3666744" cy="1298448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1104" y="4160520"/>
            <a:ext cx="3666744" cy="3810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98264" y="42702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98264" y="4544568"/>
            <a:ext cx="3392424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Webhooks &amp; API Keys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98264" y="4782312"/>
            <a:ext cx="3392424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BAAB8"/>
                </a:solidFill>
                <a:latin typeface="Calibri"/>
              </a:rPr>
              <a:t>Real-time event webhooks. API keys for n8n and Zapier. Build any integration you need.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73568" y="4160520"/>
            <a:ext cx="3666744" cy="1298448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73568" y="4160520"/>
            <a:ext cx="3666744" cy="381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10728" y="42702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0728" y="4544568"/>
            <a:ext cx="3392424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Multi-language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10728" y="4782312"/>
            <a:ext cx="3392424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BAAB8"/>
                </a:solidFill>
                <a:latin typeface="Calibri"/>
              </a:rPr>
              <a:t>Guest pages in 5 languages. Set once per hotel — no extra configuration or translation work.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91672" y="6492240"/>
            <a:ext cx="1005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555555"/>
                </a:solidFill>
                <a:latin typeface="Calibr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2030"/>
          </a:solidFill>
          <a:ln>
            <a:solidFill>
              <a:srgbClr val="05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3220"/>
            <a:ext cx="274320" cy="254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3657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RETURN ON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What hotels gain by switching to 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704338" cy="3291840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704338" cy="381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70433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6B6D4"/>
                </a:solidFill>
                <a:latin typeface="Calibri"/>
              </a:rPr>
              <a:t>−80%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243001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BAAB8"/>
                </a:solidFill>
                <a:latin typeface="Calibri"/>
              </a:rPr>
              <a:t>Less staff time at check-in desk per guest. Guests arrive pre-registered.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4418" y="1371600"/>
            <a:ext cx="2704338" cy="3291840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4418" y="1371600"/>
            <a:ext cx="2704338" cy="381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4418" y="1737360"/>
            <a:ext cx="270433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9E0B"/>
                </a:solidFill>
                <a:latin typeface="Calibri"/>
              </a:rPr>
              <a:t>3×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1578" y="2880360"/>
            <a:ext cx="243001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BAAB8"/>
                </a:solidFill>
                <a:latin typeface="Calibri"/>
              </a:rPr>
              <a:t>More Google and TripAdvisor reviews collected per month vs. verbal asking.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0196" y="1371600"/>
            <a:ext cx="2704338" cy="3291840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0196" y="1371600"/>
            <a:ext cx="2704338" cy="381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0196" y="1737360"/>
            <a:ext cx="270433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0B981"/>
                </a:solidFill>
                <a:latin typeface="Calibri"/>
              </a:rPr>
              <a:t>+40%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7356" y="2880360"/>
            <a:ext cx="243001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BAAB8"/>
                </a:solidFill>
                <a:latin typeface="Calibri"/>
              </a:rPr>
              <a:t>Increase in upsell revenue from in-stay service orders via the concierge.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5974" y="1371600"/>
            <a:ext cx="2704338" cy="3291840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35974" y="1371600"/>
            <a:ext cx="2704338" cy="381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35974" y="1737360"/>
            <a:ext cx="270433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3134" y="2880360"/>
            <a:ext cx="243001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BAAB8"/>
                </a:solidFill>
                <a:latin typeface="Calibri"/>
              </a:rPr>
              <a:t>Guest data captured digitally with GDPR consent from day one. Zero paper.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92040"/>
            <a:ext cx="11091672" cy="1664208"/>
          </a:xfrm>
          <a:prstGeom prst="roundRect">
            <a:avLst/>
          </a:prstGeom>
          <a:solidFill>
            <a:srgbClr val="082230"/>
          </a:solidFill>
          <a:ln w="12700">
            <a:solidFill>
              <a:srgbClr val="1A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120640"/>
            <a:ext cx="105430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7BAAB8"/>
                </a:solidFill>
                <a:latin typeface="Calibri"/>
              </a:rPr>
              <a:t>Setup in under 24 hours. Upload your logo, set your brand color — your hotel is ready to send its first
digital check-in link the same day you sign up. No technical team required.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1672" y="6492240"/>
            <a:ext cx="1005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555555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3220"/>
            <a:ext cx="274320" cy="254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3657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INTEGRATIONS &amp;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Connects to the tools you already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05784" cy="1325880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00200"/>
            <a:ext cx="2874264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n8n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3331464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BAAB8"/>
                </a:solidFill>
                <a:latin typeface="Calibri"/>
              </a:rPr>
              <a:t>Automate workflows on every guest event via API key or webhook. No code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5864" y="1417320"/>
            <a:ext cx="3605784" cy="1325880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3024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0224" y="1600200"/>
            <a:ext cx="2874264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Zapier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3024" y="2039112"/>
            <a:ext cx="3331464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BAAB8"/>
                </a:solidFill>
                <a:latin typeface="Calibri"/>
              </a:rPr>
              <a:t>Connect to 5000+ apps. New check-in → Mailchimp. New review → Slack.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43088" y="1417320"/>
            <a:ext cx="3605784" cy="1325880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0248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7448" y="1600200"/>
            <a:ext cx="2874264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WhatsApp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0248" y="2039112"/>
            <a:ext cx="3331464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BAAB8"/>
                </a:solidFill>
                <a:latin typeface="Calibri"/>
              </a:rPr>
              <a:t>Send check-in and review links directly via WhatsApp Business from the dashboard.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834640"/>
            <a:ext cx="3605784" cy="1325880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17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🗺️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017520"/>
            <a:ext cx="2874264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Google Places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56432"/>
            <a:ext cx="3331464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BAAB8"/>
                </a:solidFill>
                <a:latin typeface="Calibri"/>
              </a:rPr>
              <a:t>Nearby restaurants, parking, attractions with live ratings and open hours.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5864" y="2834640"/>
            <a:ext cx="3605784" cy="1325880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3024" y="3017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🎟️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0224" y="3017520"/>
            <a:ext cx="2874264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GetYourGuide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3024" y="3456432"/>
            <a:ext cx="3331464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BAAB8"/>
                </a:solidFill>
                <a:latin typeface="Calibri"/>
              </a:rPr>
              <a:t>Live tour widgets in the concierge page. Guests book, hotel earns commission.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43088" y="2834640"/>
            <a:ext cx="3605784" cy="1325880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80248" y="3017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7448" y="3017520"/>
            <a:ext cx="2874264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REST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0248" y="3456432"/>
            <a:ext cx="3331464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BAAB8"/>
                </a:solidFill>
                <a:latin typeface="Calibri"/>
              </a:rPr>
              <a:t>Per-hotel API keys with HMAC-signed webhooks. Build any custom integration.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343400"/>
            <a:ext cx="11091672" cy="2286000"/>
          </a:xfrm>
          <a:prstGeom prst="roundRect">
            <a:avLst/>
          </a:prstGeom>
          <a:solidFill>
            <a:srgbClr val="030B11"/>
          </a:solidFill>
          <a:ln w="12700">
            <a:solidFill>
              <a:srgbClr val="14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526280"/>
            <a:ext cx="4572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Developer-ready from day 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8463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BAAB8"/>
                </a:solidFill>
                <a:latin typeface="Calibri"/>
              </a:rPr>
              <a:t>Event webhook fires on every guest action — new check-in, booking confirmed, review submitted.
HMAC-signed payload, documented endpoint, production-ready.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526280"/>
            <a:ext cx="5669280" cy="1920240"/>
          </a:xfrm>
          <a:prstGeom prst="roundRect">
            <a:avLst/>
          </a:prstGeom>
          <a:solidFill>
            <a:srgbClr val="01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6634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B6D4"/>
                </a:solidFill>
                <a:latin typeface="Consolas"/>
              </a:rPr>
              <a:t># POST /webhook  →  {event: "checkin.completed",
#   hotel_id: "08b8a38a...",
#   guest: {name: "Marco Rossi",
#           nationality: "IT",
#           marketing_opt_in: true}}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1672" y="6492240"/>
            <a:ext cx="1005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555555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2030"/>
          </a:solidFill>
          <a:ln>
            <a:solidFill>
              <a:srgbClr val="05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E4055"/>
          </a:solidFill>
          <a:ln>
            <a:solidFill>
              <a:srgbClr val="0E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3220"/>
            <a:ext cx="274320" cy="254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3657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GET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Ready to bring your hotel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  <a:latin typeface="Georgia"/>
              </a:rPr>
              <a:t>into the digital age?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AAB8"/>
                </a:solidFill>
                <a:latin typeface="Calibri"/>
              </a:rPr>
              <a:t>GuestFlow Pro is live and running. Onboarding takes less than 24 hours — your hotel's first digital check-in link goes out the same 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71800"/>
            <a:ext cx="2103120" cy="868680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063240"/>
            <a:ext cx="19202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06B6D4"/>
                </a:solidFill>
                <a:latin typeface="Calibri"/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91840"/>
            <a:ext cx="19202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razatechsolutions.official
@gmail.com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971800"/>
            <a:ext cx="2103120" cy="868680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3063240"/>
            <a:ext cx="19202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06B6D4"/>
                </a:solidFill>
                <a:latin typeface="Calibri"/>
              </a:rPr>
              <a:t>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3291840"/>
            <a:ext cx="19202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GuestFlow Pro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971800"/>
            <a:ext cx="2103120" cy="868680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3063240"/>
            <a:ext cx="19202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06B6D4"/>
                </a:solidFill>
                <a:latin typeface="Calibri"/>
              </a:rPr>
              <a:t>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3291840"/>
            <a:ext cx="19202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Amica International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41648"/>
            <a:ext cx="6400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6B6D4"/>
                </a:solidFill>
                <a:latin typeface="Calibri"/>
              </a:rPr>
              <a:t>4 STEPS TO GO 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15968"/>
            <a:ext cx="365760" cy="36576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159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315968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Initial 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617720"/>
            <a:ext cx="1051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BAAB8"/>
                </a:solidFill>
                <a:latin typeface="Calibri"/>
              </a:rPr>
              <a:t>30-min demo session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8840" y="4315968"/>
            <a:ext cx="365760" cy="36576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43159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7752" y="4315968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Hotel Setup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87752" y="4617720"/>
            <a:ext cx="1051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BAAB8"/>
                </a:solidFill>
                <a:latin typeface="Calibri"/>
              </a:rPr>
              <a:t>Logo, color, welcome 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40" y="4315968"/>
            <a:ext cx="365760" cy="36576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40" y="43159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87952" y="4315968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First Check-in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87952" y="4617720"/>
            <a:ext cx="1051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BAAB8"/>
                </a:solidFill>
                <a:latin typeface="Calibri"/>
              </a:rPr>
              <a:t>Link sent within 24h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49240" y="4315968"/>
            <a:ext cx="365760" cy="36576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49240" y="43159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8152" y="4315968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Full Go-live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88152" y="4617720"/>
            <a:ext cx="1051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BAAB8"/>
                </a:solidFill>
                <a:latin typeface="Calibri"/>
              </a:rPr>
              <a:t>All modules + support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548640"/>
            <a:ext cx="3566160" cy="1325880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6400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6B6D4"/>
                </a:solidFill>
                <a:latin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1371600"/>
            <a:ext cx="3566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7BAAB8"/>
                </a:solidFill>
                <a:latin typeface="Calibri"/>
              </a:rPr>
              <a:t>Platform Modules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2057400"/>
            <a:ext cx="3566160" cy="1325880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21488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  <a:latin typeface="Calibri"/>
              </a:rPr>
              <a:t>3×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2880360"/>
            <a:ext cx="3566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7BAAB8"/>
                </a:solidFill>
                <a:latin typeface="Calibri"/>
              </a:rPr>
              <a:t>More Reviews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3566160"/>
            <a:ext cx="3566160" cy="1325880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0" y="36576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  <a:latin typeface="Calibri"/>
              </a:rPr>
              <a:t>−80%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4389120"/>
            <a:ext cx="3566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7BAAB8"/>
                </a:solidFill>
                <a:latin typeface="Calibri"/>
              </a:rPr>
              <a:t>Check-in Time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8160" y="5074920"/>
            <a:ext cx="3566160" cy="1325880"/>
          </a:xfrm>
          <a:prstGeom prst="roundRect">
            <a:avLst/>
          </a:prstGeom>
          <a:solidFill>
            <a:srgbClr val="0D2535"/>
          </a:solidFill>
          <a:ln w="12700">
            <a:solidFill>
              <a:srgbClr val="1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51663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24h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5897880"/>
            <a:ext cx="3566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7BAAB8"/>
                </a:solidFill>
                <a:latin typeface="Calibri"/>
              </a:rPr>
              <a:t>Setup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91672" y="6492240"/>
            <a:ext cx="1005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555555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